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Slide 1:</a:t>
            </a:r>
          </a:p>
          <a:p>
            <a:r>
              <a:t>1. Trình bày thực trạng phê duyệt nghỉ phép thủ công đang ngốn nhiều tài nguyên của HR và quản lý.</a:t>
            </a:r>
          </a:p>
          <a:p>
            <a:r>
              <a:t>2. Nhấn mạnh việc không thể phó thác hoàn toàn cho Pure LLM vì rủi ro ảo giác số ngày lễ, số dư quỹ phép và vi phạm luật lao động.</a:t>
            </a:r>
          </a:p>
          <a:p>
            <a:r>
              <a:t>3. Giới thiệu kiến trúc The Escalation Referee: kết hợp Rule Engine tất định để bảo đảm 100% chính xác về luật và toán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Slide 2:</a:t>
            </a:r>
          </a:p>
          <a:p>
            <a:r>
              <a:t>1. Giải thích luồng xử lý 3 chặng rõ ràng: Dữ liệu form cấu trúc và ảnh chứng từ đi vào.</a:t>
            </a:r>
          </a:p>
          <a:p>
            <a:r>
              <a:t>2. VLM làm nhiệm vụ 'thư ký' đọc chứng từ, còn Rule Engine làm nhiệm vụ 'thẩm phán luật'.</a:t>
            </a:r>
          </a:p>
          <a:p>
            <a:r>
              <a:t>3. Khẳng định vai trò của con người: AI không bao giờ thay thế quyền phán quyết của Quản lý đối với các ca ngoại lệ.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Slide 3:</a:t>
            </a:r>
          </a:p>
          <a:p>
            <a:r>
              <a:t>1. Trình bày số liệu đối chiếu định lượng thực tế trước và sau khi triển khai hệ thống.</a:t>
            </a:r>
          </a:p>
          <a:p>
            <a:r>
              <a:t>2. Nhấn mạnh việc triệt tiêu hoàn toàn ảo giác số liệu và đạt độ chính xác quy chế 99.09%.</a:t>
            </a:r>
          </a:p>
          <a:p>
            <a:r>
              <a:t>3. Dẫn chứng phương pháp đo lường khoa học: stress-test 810 request trên nhiều mức tải đồng thời.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Slide 4:</a:t>
            </a:r>
          </a:p>
          <a:p>
            <a:r>
              <a:t>1. Trình bày kiến trúc phân tầng: Frontend SPA nhẹ nhàng, Backend FastAPI bất đồng bộ và Hybrid AI Core.</a:t>
            </a:r>
          </a:p>
          <a:p>
            <a:r>
              <a:t>2. Giải thích rõ ràng tính minh bạch trong nghiên cứu: phân định đâu là thành phần chạy thật (production-ready) và đâu là thành phần giả lập (mock/synthetic) dùng trong kiểm thử tải và bảo vệ dữ liệu cá nhân.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Slide 5:</a:t>
            </a:r>
          </a:p>
          <a:p>
            <a:r>
              <a:t>1. Trình bày trung thực và khoa học các điểm yếu kỹ thuật được phát hiện thông qua benchmark thực nghiệm (FINDINGS.md).</a:t>
            </a:r>
          </a:p>
          <a:p>
            <a:r>
              <a:t>2. Đưa ra lộ trình nâng cấp bài bản: áp dụng nguyên tắc Zero-Trust, định danh chính xác bằng ID/CCCD, và fine-tune VLM y tế tiếng Việt.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SLIDE 1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36576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THE ESCALATION REFEREE • HỆ THỐNG PHÊ DUYỆT NGHỈ PHÉP HYBRID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Khoảng Trống Nghiệp Vụ &amp; Rủi Ro Ảo Giác Trong Phê Duyệt Nghỉ Phép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Vấn đề hiện trạng: Phê duyệt thủ công quá tải vs. Rủi ro pháp lý &amp; ảo giác của AI tạo sinh đơn thuần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⚠️ QUY TRÌNH THỦ CÔNG HIỆN TẠI (MANUAL WORKFLOW)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Chậm trễ &amp; Tốn kém thời gian: 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Thời gian phê duyệt từ 4 – 24 giờ. Cấp quản lý và HR bị quá tải bởi các lá đơn thường quy lặp đi lặp lại.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Sai sót dữ liệu &amp; Tính toán: 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Dễ quên trừ ngày phép, tính sai ngày lễ/cuối tuần, bỏ sót đơn trùng lặp giữa các nhân viên trong phòng.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Bỏ sót vi phạm quy chế: 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Khó kiểm soát kỹ tỷ lệ vắng mặt phòng ban (Team Quota &gt; 30%), chứng từ mờ hoặc phê duyệt vượt thẩm quyền theo luật.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347472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❌ BẪY ẢO GIÁC CỦA AI TẠO SINH ĐƠN THUẦN (PURE LLM TRAP)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Ảo giác số liệu (Data Hallucination): 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LLM hay tính sai số ngày làm việc thực tế, bỏ qua lịch nghỉ lễ Việt Nam, tự bịa số dư phép tồn.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Bất định (Non-deterministic): 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Cùng một lá đơn nhưng prompt khác nhau cho ra kết quả duyệt/từ chối khác nhau, không có độ tin cậy.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Rủi ro pháp lý &amp; Thiếu kiểm toán: 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AI hộp đen ra quyết định không thể kiểm toán (No Auditability), vi phạm quy chuẩn Bộ luật Lao động 2019.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🎯 GIẢI PHÁP THE ESCALATION REFEREE (MÔ HÌNH HYBRID AI):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Triệt tiêu 100% ảo giác số liệu bằng Deterministic Rule Engine theo Bộ luật Lao động 2019, ứng dụng VLM Qwen 2.5-VL chỉ để đọc sự thật trên chứng từ, và giữ con người ở trung tâm phán quyết (Human-in-the-Loop).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SLIDE 2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36576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THE ESCALATION REFEREE • HỆ THỐNG PHÊ DUYỆT NGHỈ PHÉP HYBRID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Quy Trình Xử Lý Dữ Liệu &amp; Ranh Giới Thẩm Quyền Con Người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Kiến trúc luồng: Đầu vào có cấu trúc → Xử lý kết hợp VLM &amp; Rule Engine → 3 Kiểu dừng phán quyết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📥 ĐẦU VÀO (INPUT)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Dữ liệu đơn có cấu trúc: 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Nhân viên, loại nghỉ (Annual, Sick, Emergency, Maternity...), ngày bắt đầu - kết thúc (ISO date), lý do, người nhận bàn giao.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Tệp chứng từ xác thực: 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Ảnh/PDF giấy y tế, giấy chứng nhận kết hôn, báo tử (giới hạn 10MB; kiểm tra magic bytes MIME).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Ngữ cảnh tin cậy từ DB: 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Số dư phép năm, lịch sử nghỉ, lịch làm việc &amp; ngày lễ Việt Nam (CalendarService), quota vắng mặt team.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⚙️ XỬ LÝ (HYBRID PIPELINE)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VLM Inspector (Qwen 2.5-VL): 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Chạy theo Persona chuyên biệt (Y tế / Cấp cứu / Hôn sự). Trích xuất facts: tên, ngày cấp, chẩn đoán, dấu mộc, chữ ký. Tuyệt đối KHÔNG tự phán xét hợp lệ.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Deterministic Rule Engine: 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Thẩm định 7 bước tất định: kiểm tra tính hợp lệ dữ liệu → đối chiếu chính sách luật → phân định thẩm quyền duyệt theo số ngày.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Zero LLM on Decision Path: 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Loại bỏ hoàn toàn LLM khỏi nhánh ra quyết định để triệt tiêu nguy cơ ảo giác.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📤 ĐẦU RA (3 SPEC STOPS)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1. AUTO_APPROVE (Tự duyệt): 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Ca thường quy: phép năm ≤ 2 ngày, đủ số dư, báo trước ≥ 24h, quota an toàn. Tự duyệt tức thì, trừ phép, ghi audit.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2. NEED_CORRECTION / REJECT: 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Sai hình thức: thiếu chứng từ, vượt phép, ngày ngược, mộc mờ. Trả về nhân viên tự sửa, không làm phiền cấp trên.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3. ESCALATE (Chuyển cấp): 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Vượt thẩm quyền AI: nghỉ 3-5 ngày, nộp gấp, quota team &gt; 30% → Đưa vào Escalation Inbox kèm câu hỏi định hướng.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👤 RANH GIỚI CON NGƯỜI QUYẾT ĐỊNH (FINAL ARBITER) — AI CHỈ LÀ TRỌNG TÀI ĐIỀU PHỐI: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Escalation Inbox: Quản lý nhận hồ sơ kèm Actionable Question, ảnh chứng từ gốc qua Lightbox, duyệt 1-chạm (Approve / Reject / Request More Info).</a:t>
            </a:r>
            <a:br/>
            <a:r>
              <a:t>• Quyền Phủ Quyết [ Hủy Lệnh AI ]: Cấp quản lý có toàn quyền thu hồi bất kỳ phán quyết tự động nào của AI nếu phát hiện bất thường.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SLIDE 3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36576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THE ESCALATION REFEREE • HỆ THỐNG PHÊ DUYỆT NGHỈ PHÉP HYBRID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Hiệu Quả Triển Khai Thực Tế &amp; Phương Pháp Đo Lường Độc Lập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Đối chiếu định lượng trước và sau triển khai cùng hệ thống đo lường benchmark trên 810 API submissions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  <a:gridCol w="3108960"/>
                <a:gridCol w="228600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Chỉ số / Tiêu chí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Trước triển khai (Thủ công / Pure LLM)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Sau triển khai (The Escalation Referee)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Mức cải thiện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Thời gian phản hồi đơn chuẩn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4 – 24 giờ (chờ sếp check email/chat)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~80 – 120 ms (Auto-Approve tức thì)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Nhanh gấp &gt; 10.000 lần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Tỷ lệ ảo giác số liệu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Thường xuyên tính sai ngày lễ/cuối tuần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0% (Triệt tiêu hoàn toàn qua Rule Engine)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Zero Hallucination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Độ chính xác quy chế (Accuracy)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~85 – 90% (sai sót con người khi đối chiếu)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99.09% (109/110 test suite độc lập)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Chuẩn hóa tối đa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Tải công việc của Quản lý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Phải đọc và duyệt 100% mọi loại đơn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Chỉ xử lý 30 – 40% ca ngoại lệ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Giảm 60 – 70% gánh nặng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Tính minh bạch &amp; Kiểm toán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Trao đổi phân tán qua Chat/Email, khó tra cứu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100% lưu vết Decision Trace &amp; Audit Log ACID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Minh bạch tuyệt đối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93776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📊 TẢI THỰC NGHIỆM 810 REQUESTS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Đo lường trên 810 lượt nộp API thực tế trong 60 lô, concurrency từ 1 đến 30 (cả lịch bùng nổ burst và rải đều).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93776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🎯 ĐỘ CHÍNH XÁC QUY CHẾ 99.09%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Đánh giá độc lập trên 140 kịch bản nhân sự và 110 test suite quy chuẩn theo Bộ luật Lao động 2019.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93776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⚡ ĐỘ TRỄ API ACK_P95 ~ 118 MS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Độ trễ phản hồi API p95 chỉ 118.5ms; hàng đợi VLM đơn luồng bảo vệ GPU RTX 4090 không bị quá tải VRAM.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SLIDE 4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36576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THE ESCALATION REFEREE • HỆ THỐNG PHÊ DUYỆT NGHỈ PHÉP HYBRID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Kiến Trúc Kỹ Thuật Hệ Thống &amp; Phân Định Thực Tế - Giả Lập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Mô hình triển khai phân tầng và ranh giới minh bạch giữa các thành phần thực tế vs. thành phần mock kiểm thử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7548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🏗️ KIẾN TRÚC PHÂN TẦNG (SYSTEM ARCHITECTURE)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Tầng Trình diễn (Presentation): 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Single Page Application (SPA) viết bằng HTML/CSS/Vanilla JS thuần túy, phục vụ trực tiếp từ FastAPI mà không cần framework phức tạp; chia 3 chế độ: STAFF, MANAGER, TEST.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Tầng Điều phối &amp; Dữ liệu (Backend &amp; DB): 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FastAPI async ASGI; ProofInspectionService quản lý hàng đợi worker thread ngầm ngoài DB lock; SQLite với chế độ BEGIN IMMEDIATE &amp; WAL bảo đảm giao dịch tài chính ACID theo từng ngày làm việc.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Tầng Trí tuệ hỗn hợp (Hybrid AI Engine): 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Rule Engine tất định tính toán lịch nghỉ lễ Việt Nam (CalendarService) kết hợp mô hình thị giác Ollama Qwen 2.5-VL quét và chuẩn hóa chứng từ.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720" y="1828800"/>
          <a:ext cx="56692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228600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Thành phần hệ thống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Phân loại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Chi tiết kỹ thuật &amp; Mục đích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FastAPI, SPA UI, SQLite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THỰC TẾ (Real)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RESTful API thực, cơ sở dữ liệu thật, ledger trừ phép và audit log lưu vết.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Deterministic Rule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THỰC TẾ (Real)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 bước thẩm định quy chế thật, tính toán lịch làm việc &amp; ngày lễ Việt Nam.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Mô hình VLM (Qwen 2.5-VL)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THỰC TẾ (Real)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Chạy thực tế qua Ollama trên GPU RTX 4090 khi chạy cờ --live-vlm.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VLM Mock Profile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GIẢ LẬP (Mock)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Dùng khi stress-test đo throughput backend mà không làm nghẽn GPU.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140 Nhân viên &amp; Chứng từ mẫu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GIẢ LẬP (Synthetic)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Sinh bằng Pillow nhằm kiểm thử tải mà không làm lộ dữ liệu y tế cá nhân (PII).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SLIDE 5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36576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THE ESCALATION REFEREE • HỆ THỐNG PHÊ DUYỆT NGHỈ PHÉP HYBRID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Giới Hạn Kỹ Thuật, Điểm Nghẽn Thực Tế &amp; Định Hướng Hoàn Thiện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Các lỗi/hạn chế phát hiện qua kiểm chuẩn thực tế (Findings) và lộ trình nâng cấp hệ thống (Roadmap)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219456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EF4444"/>
                </a:solidFill>
              </a:defRPr>
            </a:pPr>
            <a:r>
              <a:t>⚠️ CÁC GIỚI HẠN &amp; ĐIỂM NGHẼN PHÁT HIỆN TỪ THỰC NGHIỆM (EVALUATION FINDINGS):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1. Race Condition Worker vs. Submit: 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Đơn có thể bị kẹt ở PROCESSING nếu tác vụ đọc chứng từ xong trước khi đơn kịp lưu vào DB.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2. Lỗ hổng so khớp danh tính (Name Matching): 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Hàm so khớp tên xấp xỉ có thể nhận nhầm nếu có các token trùng nhau (ví dụ: Person 999 khớp với Person 000).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3. Fallback khi phản hồi Quản lý mơ hồ: 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Khi Quản lý nhập phản hồi không rõ ràng, hệ thống mặc định chấp thuận (APPROVE_OVERRIDE), tiềm ẩn rủi ro lọt đơn sai.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4. Disk Cache VLM chưa phân lập ngữ cảnh: 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Khóa lưu cache ổ đĩa của VLM chỉ dựa trên SHA256 file mà chưa gắn kèm loại nghỉ phép (leave_type).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5. Giới hạn VLM với chữ viết tay bác sĩ: 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Chữ viết tay quá mờ hoặc mộc nhạt có thể dẫn đến đánh dấu DOC_ILLEGIBLE hoặc nhận diện sai số ngày chỉ định.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10698480" cy="219456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🚀 ĐỊNH HƯỚNG VÀ LỘ TRÌNH KHẮC PHỤC (REMEDIATION &amp; FUTURE ROADMAP):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Hoàn thiện State Machine &amp; Transaction: 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Thiết kế cơ chế chuyển trạng thái nguyên khối để triệt tiêu hoàn toàn race condition giữa worker và API submit.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Nguyên tắc Fail-safe / Zero-Trust: 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Khi phản hồi của người duyệt mơ hồ, hệ thống bắt buộc chuyển sang REQUEST_MORE_INFO, tuyệt đối cấm tự động duyệt.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Định danh nhân viên chính xác: 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Bắt buộc đối chiếu Mã nhân viên (Employee ID), CCCD hoặc Mã số BHXH thay vì chỉ so khớp chuỗi họ tên đơn thuần.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Tối ưu hóa Cache &amp; Bảo mật Log: 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Gắn phức hợp file_hash + leave_type + context vào key cache; chuẩn hóa khử trùng (sanitization) chuỗi lỗi thô của model trước khi ghi log.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Fine-tune VLM chuyên biệt y tế: 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Fine-tune mô hình Vision trên tập dữ liệu hồ sơ bệnh án và chữ viết tay y tế Việt Nam; mở rộng hàng đợi đa luồng cho doanh nghiệp lớn.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